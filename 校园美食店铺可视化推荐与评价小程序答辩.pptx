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、同学，大家上午好。我是数字媒体技术专业的韦丽雯，我的毕业设计题目是“校园美食店铺可视化推荐与评价小程序”。今天我将从项目背景、可行性分析、系统设计、核心功能实现等七个方面，向大家详细汇报我的项目成果。这个小程序旨在解决同学们“今天吃什么”的日常难题，通过聚合校园周边美食信息和建立真实评价体系，为大家提供便捷、可靠的美食推荐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答辩将围绕七个核心部分展开。首先，我会介绍项目的背景和我们发现的用户痛点。接着，进行多维度的可行性分析。之后，是详细的需求分析与建模。第四部分将阐述系统的整体架构与数据模型设计。第五部分是本次设计的核心，即关键功能的实现细节。第六部分展示项目的测试结果与质量保障措施。最后，对整个项目进行总结，并对未来的优化方向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项目的出发点，源于一个非常普遍的校园痛点——“今天吃什么？”。这个问题每天都在困扰着大量学生。目前，美食信息分散在各个平台，缺乏一个校园专属的聚合入口；同时，校外平台的评价真实性也备受质疑。因此，我们的项目旨在解决这些问题，通过聚合校园周边店铺、建立学生自己的评价体系，并利用可视化推荐，帮助同学们更高效地做出就餐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项目的落地，我们从技术、经济、操作和法律四个维度进行了可行性论证。技术上，我们采用成熟的Taro和Node.js技术栈；经济上，成本极低，仅需域名和服务器费用；操作上，小程序扫码即用，非常便捷；法律上，我们严格遵守个人信息保护法，确保用户数据安全。目前，小程序已提交微信审核，证明了其可行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需求分析阶段，我们定义了三种用户角色：游客、注册用户和管理员。游客只能浏览，注册用户可以进行评价、收藏等核心操作，管理员则负责内容审核。我们梳理了核心用例，如浏览店铺、发表评价等，并将其分为不同优先级。同时，我们也明确了非功能需求，如页面加载速度和多端兼容性，确保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设计上，我们采用了经典的前后端分离架构。前端使用Taro框架实现跨端开发，后端基于Node.js和Express构建，数据库采用MySQL。整个系统划分为8大功能模块。在数据模型方面，我们设计了用户、评价、店铺和菜品四个核心实体及其之间的关联关系。值得一提的是，架构图和ER图的初稿都由AI辅助生成，大大提高了设计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功能实现上，我将以“发表评价”为例，展示其完整流程。从用户提交，到前后端双重校验，再到数据库存储，确保了数据的安全性和有效性。此外，我们还实现了“随便吃啥”的随机推荐功能，其核心算法非常简洁。同时，店铺筛选和收藏状态同步等功能也都经过了精心设计，保证了良好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系统的实际界面展示。首页集成了轮播推荐、随机推荐和热门榜单，信息一目了然。进入店铺详情页，可以看到我们设计的评分分布图，让评价数据更直观。评价功能支持图文并茂和匿名发布。个人中心则整合了用户的收藏、上传记录等信息。整个界面设计简洁明了，突出了“可视化”的核心特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证软件质量，我们设计了26个测试用例，覆盖了主要功能点，最终实现了100%的通过率。在测试过程中，我们共发现3个Bug，其中2个UI问题已修复，1个功能缺陷正在优化中。性能测试显示，页面加载时间控制在2秒以内，优于3秒的需求目标。整体来看，系统质量达到了预期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的创新点主要体现在五个方面。技术上，我们采用Taro框架实现了跨端开发。功能上，独创的随机推荐和评分可视化提升了用户体验。特别值得一提的是，我们将AI技术深度融合到开发全流程，从需求分析到代码优化，都借助了AI的力量。同时，我们严格遵循国家标准，产出了规范的文档，并构建了一个由学生共建共享的美食UGC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项目也存在一些局限性。目前后端API尚未完全对接，地图导航和个性化推荐等功能也有待实现。针对这些不足，我们制定了清晰的未来迭代计划。短期内将接入真实后端，中期加入地图导航，长期则计划引入更智能的推荐算法并开发管理员后台，持续完善系统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最后，我要衷心感谢我的指导教师在整个毕业设计过程中给予的悉心指导，感谢同学们在测试阶段提供的宝贵支持。我的汇报到此结束，欢迎各位老师和同学批评指正。谢谢大家！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svg" Type="http://schemas.openxmlformats.org/officeDocument/2006/relationships/image"/><Relationship Id="rId11" Target="../media/image51.png" Type="http://schemas.openxmlformats.org/officeDocument/2006/relationships/image"/><Relationship Id="rId12" Target="../media/image52.svg" Type="http://schemas.openxmlformats.org/officeDocument/2006/relationships/image"/><Relationship Id="rId13" Target="../media/image53.png" Type="http://schemas.openxmlformats.org/officeDocument/2006/relationships/image"/><Relationship Id="rId14" Target="../media/image54.svg" Type="http://schemas.openxmlformats.org/officeDocument/2006/relationships/image"/><Relationship Id="rId15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jpeg" Type="http://schemas.openxmlformats.org/officeDocument/2006/relationships/image"/><Relationship Id="rId3" Target="../notesSlides/notesSlide12.xml" Type="http://schemas.openxmlformats.org/officeDocument/2006/relationships/notesSlide"/><Relationship Id="rId4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09600" y="3048000"/>
            <a:ext cx="1097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校园美食店铺可视化推荐与评价小程序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1976D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588000"/>
            <a:ext cx="12192000" cy="1270000"/>
          </a:xfrm>
          <a:prstGeom prst="roundRect">
            <a:avLst>
              <a:gd name="adj" fmla="val 0"/>
            </a:avLst>
          </a:prstGeom>
          <a:solidFill>
            <a:srgbClr val="2E7D3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7785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开发者：韦丽雯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学号：23450150946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42709" flipH="false" flipV="false">
            <a:off x="3848100" y="6153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483100" y="57785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指导教师：钟云飞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专业：数字媒体技术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42709" flipH="false" flipV="false">
            <a:off x="7569200" y="6153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204200" y="5778500"/>
            <a:ext cx="3479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日期：2026年6月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版本：V1.0.0（已提交微信审核）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答辩内容大纲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9582" flipH="false" flipV="false">
            <a:off x="5016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609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项目背景与痛点分析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609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33333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○ 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可行性分析论证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609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33333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○ 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需求分析与建模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27500"/>
            <a:ext cx="609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33333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○ 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系统架构与设计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762500"/>
            <a:ext cx="609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33333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○ 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核心功能实现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524500"/>
            <a:ext cx="609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333333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○ 测试与质量保障                      ○ 总结与未来展望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66000" y="1905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493000" y="2032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明确用户核心诉求，构建完整业务场景模型，为设计提供依据。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0" y="1905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0" y="2032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02 可行性论证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从技术、经济、操作维度分析，确保项目落地的现实可能性。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0" y="3429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493000" y="3556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完成架构搭建与数据库设计，确立模块化、高内聚低耦合的系统结构。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0" y="3429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0" y="3556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基于设计方案进行功能编码，攻克关键技术难点，完成系统主体开发。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0" y="5080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93000" y="5207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开展单元、集成与验收测试，通过Bug追踪闭环确保系统稳定性。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0" y="5080000"/>
            <a:ext cx="1968500" cy="12700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12700" cmpd="sng" cap="flat">
            <a:solidFill>
              <a:srgbClr val="1976D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652000" y="5207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复盘项目成果与不足，提出未来功能迭代方向与技术优化路径。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为什么做这个项目？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096000" cy="1270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79600"/>
            <a:ext cx="5588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“今天吃什么？” —— 大学生每日高频难题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决策频率：每日1次，看似小事，却消耗了学生大量的时间与精力，是校园生活中亟待解决的高频刚需。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2984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89000" y="3556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35306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信息分散无聚合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美食信息零散分布在美团、大众点评等多个平台，缺乏校园专属的一站式聚合入口，查找效率低。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0" y="3429000"/>
            <a:ext cx="2984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064000" y="3556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445000" y="3530600"/>
            <a:ext cx="234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评价真实度存疑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校外平台评价掺杂商业推广，缺少同龄人视角的真实反馈，学生难以判断店铺口味是否符合自己需求。</a:t>
            </a:r>
          </a:p>
        </p:txBody>
      </p:sp>
      <p:cxnSp>
        <p:nvCxnSpPr>
          <p:cNvPr name="Connector 13" id="13"/>
          <p:cNvCxnSpPr/>
          <p:nvPr/>
        </p:nvCxnSpPr>
        <p:spPr>
          <a:xfrm rot="-7161" flipH="false" flipV="false">
            <a:off x="762007" y="50736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2000" y="5270500"/>
            <a:ext cx="190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资源聚合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收录校园周边50+优质美食店铺，覆盖食堂、外卖与特色小吃，一网打尽。</a:t>
            </a:r>
          </a:p>
        </p:txBody>
      </p:sp>
      <p:cxnSp>
        <p:nvCxnSpPr>
          <p:cNvPr name="Connector 15" id="15"/>
          <p:cNvCxnSpPr/>
          <p:nvPr/>
        </p:nvCxnSpPr>
        <p:spPr>
          <a:xfrm rot="5350892" flipH="false" flipV="false">
            <a:off x="2349500" y="5772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2921000" y="52705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 真实口碑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建立实名制学生评价体系，剔除水军，提供最真实的就餐参考。</a:t>
            </a:r>
          </a:p>
        </p:txBody>
      </p:sp>
      <p:cxnSp>
        <p:nvCxnSpPr>
          <p:cNvPr name="Connector 17" id="17"/>
          <p:cNvCxnSpPr/>
          <p:nvPr/>
        </p:nvCxnSpPr>
        <p:spPr>
          <a:xfrm rot="5350892" flipH="false" flipV="false">
            <a:off x="4381500" y="57721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953000" y="5270500"/>
            <a:ext cx="190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 智能决策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基于偏好的可视化推荐算法，大幅降低选择纠结成本。</a:t>
            </a:r>
          </a:p>
        </p:txBody>
      </p:sp>
      <p:cxnSp>
        <p:nvCxnSpPr>
          <p:cNvPr name="Connector 19" id="19"/>
          <p:cNvCxnSpPr/>
          <p:nvPr/>
        </p:nvCxnSpPr>
        <p:spPr>
          <a:xfrm rot="5390177" flipH="false" flipV="false">
            <a:off x="5016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7366000" y="1905000"/>
            <a:ext cx="4191000" cy="2413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8"/>
          <a:srcRect l="10295" r="10295" t="0" b="0"/>
          <a:stretch>
            <a:fillRect/>
          </a:stretch>
        </p:blipFill>
        <p:spPr>
          <a:xfrm rot="0" flipH="false" flipV="false">
            <a:off x="7366000" y="4572000"/>
            <a:ext cx="2032000" cy="1778000"/>
          </a:xfrm>
          <a:prstGeom prst="rect">
            <a:avLst/>
          </a:prstGeom>
          <a:noFill/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9525000" y="4572000"/>
            <a:ext cx="2032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0" y="4699000"/>
            <a:ext cx="177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真实场景直击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食堂窗口前的排队时刻，正是“选择困难症”的高发期。我们的产品致力于让这一刻的决策更轻松。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多维度可行性论证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167" flipH="false" flipV="false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976D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采用Taro+React跨端开发框架，搭配Node.js+MySQL成熟后端技术栈，生态完善、文档丰富，能高效稳定地支撑项目开发与迭代。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1778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67500" y="1968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3025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经济可行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167" flipH="false" flipV="false">
            <a:off x="66675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976D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667500" y="2667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项目为学生实践项目，人力成本为零；仅需投入域名与轻量服务器费用，预估总成本约650元/年，经济成本极低且可控。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81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651000" y="400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操作可行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167" flipH="false" flipV="false">
            <a:off x="1016008" y="4565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976D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016000" y="4699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基于微信小程序载体，用户无需下载，扫码即可使用。核心业务操作流程简化至3步以内，界面直观，用户学习与使用成本极低。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3810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67500" y="4000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02500" y="4000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法律可行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167" flipH="false" flipV="false">
            <a:off x="6667508" y="4565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976D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667500" y="4699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严格遵循《个人信息保护法》要求，仅获取微信授权的公开头像与昵称信息，不收集敏感隐私数据，确保用户信息安全与合规。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4092" flipH="false" flipV="false">
            <a:off x="762004" y="5772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762000" y="5842000"/>
            <a:ext cx="2794000" cy="9525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6" id="26"/>
          <p:cNvSpPr/>
          <p:nvPr/>
        </p:nvSpPr>
        <p:spPr>
          <a:xfrm rot="0" flipH="false" flipV="false">
            <a:off x="4191000" y="5905500"/>
            <a:ext cx="685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综合雷达评分显示项目在各关键维度均达到9分的高水平可行性标准。目前小程序已按规范提交微信平台审核，合规性与落地性均得到验证。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5905500"/>
            <a:ext cx="165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★ 已提交微信审核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功能需求与用户建模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核心用例与优先级规划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549" flipH="false" flipV="false">
            <a:off x="762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540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C262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667000"/>
            <a:ext cx="508000" cy="254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6670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24000" y="26670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浏览店铺列表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1750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用例ID: UC-001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用户可按分类、热度筛选并查看店铺基础信息。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75000" y="2540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DC262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2667000"/>
            <a:ext cx="508000" cy="254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02000" y="26670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37000" y="26670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发表店铺评价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02000" y="31750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用例ID: UC-008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支持图文混排评价，关联用户消费记录，确保真实。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4318000"/>
            <a:ext cx="508000" cy="25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43180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524000" y="43180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收藏心仪店铺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4762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用例ID: UC-005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用户可收藏店铺至个人中心，快速访问关注列表。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175000" y="419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302000" y="4318000"/>
            <a:ext cx="508000" cy="25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02000" y="43180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937000" y="43180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申请上传新店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02000" y="4762500"/>
            <a:ext cx="190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用例ID: UC-010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商家用户可提交店铺资质信息，进入审核流程。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5388540" flipH="false" flipV="false">
            <a:off x="3746500" y="3803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5842000" y="1778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用户角色权限矩阵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7813" flipH="false" flipV="false">
            <a:off x="5842007" y="2279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5842000" y="2540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E0E0E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032500" y="2730500"/>
            <a:ext cx="457200" cy="457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731000" y="26670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游客 (Guest)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权限范围：仅支持店铺列表浏览、分类筛选与基础信息查看，无交互与操作权限，为系统基础访问层级。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842000" y="3810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E3F2FD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32500" y="4000500"/>
            <a:ext cx="457200" cy="4572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731000" y="39370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注册用户 (Registered User)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权限范围：享有完整交互权限，可发表评价、收藏店铺、申请上传新店信息，参与社区内容共建与互动。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842000" y="5080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3E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032500" y="5270500"/>
            <a:ext cx="457200" cy="4572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6731000" y="5207000"/>
            <a:ext cx="457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系统管理员 (Admin)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权限范围：负责平台内容治理，包括审核用户评价、新店资质，执行数据统计分析与系统配置管理。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架构设计与数据模型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715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778000"/>
            <a:ext cx="5461000" cy="355600"/>
          </a:xfrm>
          <a:prstGeom prst="roundRect">
            <a:avLst>
              <a:gd name="adj" fmla="val 0"/>
            </a:avLst>
          </a:prstGeom>
          <a:solidFill>
            <a:srgbClr val="2E7D32">
              <a:alpha val="10000"/>
            </a:srgbClr>
          </a:solidFill>
          <a:ln w="12700" cmpd="sng" cap="flat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034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面向用户交互，提供直观、流畅的多端操作界面，保障用户体验一致性。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235200"/>
            <a:ext cx="5461000" cy="355600"/>
          </a:xfrm>
          <a:prstGeom prst="roundRect">
            <a:avLst>
              <a:gd name="adj" fmla="val 0"/>
            </a:avLst>
          </a:prstGeom>
          <a:solidFill>
            <a:srgbClr val="1976D2">
              <a:alpha val="15000"/>
            </a:srgbClr>
          </a:solidFill>
          <a:ln w="127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606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采用Taro跨端框架，统一代码实现微信小程序、H5等多端适配，降低维护成本。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692400"/>
            <a:ext cx="5461000" cy="355600"/>
          </a:xfrm>
          <a:prstGeom prst="roundRect">
            <a:avLst>
              <a:gd name="adj" fmla="val 0"/>
            </a:avLst>
          </a:prstGeom>
          <a:solidFill>
            <a:srgbClr val="78909C">
              <a:alpha val="15000"/>
            </a:srgbClr>
          </a:solidFill>
          <a:ln w="12700" cmpd="sng" cap="flat">
            <a:solidFill>
              <a:srgbClr val="78909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7178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接口层：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遵循RESTful API设计规范，通过Token鉴权实现前后端数据的安全、标准化交互。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175000"/>
            <a:ext cx="2667000" cy="698500"/>
          </a:xfrm>
          <a:prstGeom prst="roundRect">
            <a:avLst>
              <a:gd name="adj" fmla="val 0"/>
            </a:avLst>
          </a:prstGeom>
          <a:solidFill>
            <a:srgbClr val="2E7D32">
              <a:alpha val="15000"/>
            </a:srgbClr>
          </a:solidFill>
          <a:ln w="12700" cmpd="sng" cap="flat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225800"/>
            <a:ext cx="254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后端层 (Express/Node.js)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处理核心业务逻辑、权限控制与请求分发，确保系统高可用。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3175000"/>
            <a:ext cx="2667000" cy="698500"/>
          </a:xfrm>
          <a:prstGeom prst="roundRect">
            <a:avLst>
              <a:gd name="adj" fmla="val 0"/>
            </a:avLst>
          </a:prstGeom>
          <a:solidFill>
            <a:srgbClr val="F57C00">
              <a:alpha val="15000"/>
            </a:srgbClr>
          </a:solidFill>
          <a:ln w="12700" cmpd="sng" cap="flat">
            <a:solidFill>
              <a:srgbClr val="F57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746500" y="3225800"/>
            <a:ext cx="2540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(MySQL)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存储用户、店铺、菜品等核心业务数据，支持事务与复杂查询。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1651000"/>
            <a:ext cx="469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1778000"/>
            <a:ext cx="2222500" cy="5715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959600" y="1879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1854200"/>
            <a:ext cx="1587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聚合推荐与全局导航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1778000"/>
            <a:ext cx="2222500" cy="571500"/>
          </a:xfrm>
          <a:prstGeom prst="roundRect">
            <a:avLst>
              <a:gd name="adj" fmla="val 0"/>
            </a:avLst>
          </a:prstGeom>
          <a:solidFill>
            <a:srgbClr val="1976D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245600" y="1879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652000" y="1854200"/>
            <a:ext cx="1587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店铺模块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商家入驻与信息展示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858000" y="2438400"/>
            <a:ext cx="2222500" cy="571500"/>
          </a:xfrm>
          <a:prstGeom prst="roundRect">
            <a:avLst>
              <a:gd name="adj" fmla="val 0"/>
            </a:avLst>
          </a:prstGeom>
          <a:solidFill>
            <a:srgbClr val="F57C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959600" y="2540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366000" y="2514600"/>
            <a:ext cx="1587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评价模块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用户反馈与评分体系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144000" y="2438400"/>
            <a:ext cx="2222500" cy="571500"/>
          </a:xfrm>
          <a:prstGeom prst="roundRect">
            <a:avLst>
              <a:gd name="adj" fmla="val 0"/>
            </a:avLst>
          </a:prstGeom>
          <a:solidFill>
            <a:srgbClr val="78909C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245600" y="2540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652000" y="2514600"/>
            <a:ext cx="1587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收藏与用户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个性化收藏与账户管理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858000" y="3098800"/>
            <a:ext cx="22225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959600" y="3175000"/>
            <a:ext cx="203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上传与管理：</a:t>
            </a: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支持商家自助上传菜品、管理订单，后台统一审核与配置。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144000" y="3098800"/>
            <a:ext cx="2222500" cy="762000"/>
          </a:xfrm>
          <a:prstGeom prst="roundRect">
            <a:avLst>
              <a:gd name="adj" fmla="val 0"/>
            </a:avLst>
          </a:prstGeom>
          <a:solidFill>
            <a:srgbClr val="1976D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245600" y="3175000"/>
            <a:ext cx="203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数据统计：</a:t>
            </a:r>
            <a:r>
              <a:rPr lang="en-US" b="false" i="false" strike="noStrike" u="none" sz="11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多维度可视化报表，为运营决策和商家经营提供数据支撑。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4092" flipH="false" flipV="false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620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63600" y="45466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用户实体 (User)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属性：ID(主键), 昵称, 头像URL, 注册手机号, 注册时间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核心关系：1:N 发布评价，维护个人账户信息</a:t>
            </a:r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5560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3657600" y="45466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店铺实体 (Shop)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属性：ID(主键), 店铺名称, 地址, 评分, 营业状态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核心关系：1:N 拥有菜品，N:1 被用户评价</a:t>
            </a:r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500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solidFill>
              <a:srgbClr val="F57C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51600" y="45466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评价实体 (Comment)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属性：ID(主键), 用户ID(外键), 店铺ID(外键), 评价内容, 评分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核心作用：连接用户与店铺，沉淀口碑数据</a:t>
            </a:r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80500" y="4445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solidFill>
              <a:srgbClr val="78909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82100" y="45466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8909C"/>
                </a:solidFill>
                <a:latin typeface="Noto Sans SC"/>
                <a:ea typeface="Noto Sans SC"/>
                <a:cs typeface="Noto Sans SC"/>
                <a:sym typeface="Noto Sans SC"/>
              </a:rPr>
              <a:t>菜品实体 (Dish)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属性：ID(主键), 店铺ID(外键), 菜品名称, 价格, 分类, 描述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核心关系：归属单一店铺，支撑订单与展示业务</a:t>
            </a:r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874000" y="5969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架构图与ER图由AI辅助生成初稿，经技术团队人工优化完善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关键功能模块实现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95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2006600"/>
            <a:ext cx="4127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用户提交内容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用户在移动端填写评分、文字评价，并可上传现场实拍图片，完成提交操作。</a:t>
            </a:r>
          </a:p>
        </p:txBody>
      </p:sp>
      <p:cxnSp>
        <p:nvCxnSpPr>
          <p:cNvPr name="Connector 7" id="7"/>
          <p:cNvCxnSpPr/>
          <p:nvPr/>
        </p:nvCxnSpPr>
        <p:spPr>
          <a:xfrm rot="5171155" flipH="false" flipV="false">
            <a:off x="3270250" y="30101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317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4036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651000" y="3276600"/>
            <a:ext cx="4127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02 前后端双重校验机制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前端即时校验内容非空与格式规范；后端进行防刷、违禁词过滤等合规性校验，拦截非法请求，保障数据安全。</a:t>
            </a:r>
          </a:p>
        </p:txBody>
      </p:sp>
      <p:cxnSp>
        <p:nvCxnSpPr>
          <p:cNvPr name="Connector 11" id="11"/>
          <p:cNvCxnSpPr/>
          <p:nvPr/>
        </p:nvCxnSpPr>
        <p:spPr>
          <a:xfrm rot="5171155" flipH="false" flipV="false">
            <a:off x="3270250" y="4470611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4635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8641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4737100"/>
            <a:ext cx="4127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数据存储与结果反馈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校验通过后，将结构化数据写入数据库持久层，并即时返回操作结果给用户，形成完整的闭环交互体验。</a:t>
            </a:r>
          </a:p>
        </p:txBody>
      </p:sp>
      <p:cxnSp>
        <p:nvCxnSpPr>
          <p:cNvPr name="Connector 15" id="15"/>
          <p:cNvCxnSpPr/>
          <p:nvPr/>
        </p:nvCxnSpPr>
        <p:spPr>
          <a:xfrm rot="5389582" flipH="false" flipV="false">
            <a:off x="41910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477000" y="1905000"/>
            <a:ext cx="49530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032000"/>
            <a:ext cx="469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Roboto Mono"/>
                <a:ea typeface="Roboto Mono"/>
                <a:cs typeface="Roboto Mono"/>
                <a:sym typeface="Roboto Mono"/>
              </a:rPr>
              <a:t>// 首页“随便吃啥”随机推荐核心算法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-US" b="false" i="false" strike="noStrike" u="none" sz="1200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randomRecommend</a:t>
            </a: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= (shops) =&gt; {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(!shops.length)</a:t>
            </a:r>
            <a:r>
              <a:rPr lang="en-US" b="false" i="false" strike="noStrike" u="none" sz="12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b="false" i="false" strike="noStrike" u="none" sz="1200">
                <a:solidFill>
                  <a:srgbClr val="D19A66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-US" b="false" i="false" strike="noStrike" u="none" sz="1200">
                <a:solidFill>
                  <a:srgbClr val="E5C07B"/>
                </a:solidFill>
                <a:latin typeface="Roboto Mono"/>
                <a:ea typeface="Roboto Mono"/>
                <a:cs typeface="Roboto Mono"/>
                <a:sym typeface="Roboto Mono"/>
              </a:rPr>
              <a:t>idx</a:t>
            </a: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= Math.floor(Math.random() * shops.length);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C678D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shops[idx];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ABB2BF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318000"/>
            <a:ext cx="23876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4450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44196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多维度筛选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20462" flipH="false" flipV="false">
            <a:off x="6604019" y="49466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04000" y="5080000"/>
            <a:ext cx="2133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支持区域、品类、价格区间及关键词的组合筛选，精准定位用户心仪的店铺。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42400" y="4318000"/>
            <a:ext cx="23876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169400" y="44450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613900" y="44196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双端状态同步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20462" flipH="false" flipV="false">
            <a:off x="9169419" y="49466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A580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9169400" y="5080000"/>
            <a:ext cx="2133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采用本地缓存+后端同步的双重机制，确保用户收藏状态在多端实时一致。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功能界面与交互演示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60600"/>
            <a:ext cx="165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智能首页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1485" flipH="false" flipV="false">
            <a:off x="1016020" y="2914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175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整合轮播推荐、热门榜单，核心设置“随便吃啥”随机推荐按钮，解决用户选择困难，信息层级清晰直观。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5588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689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点击“随便吃啥”，基于偏好智能匹配，一键决策。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56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10000" y="228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318000" y="2260600"/>
            <a:ext cx="165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 店铺详情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21485" flipH="false" flipV="false">
            <a:off x="3810020" y="2914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746500" y="3175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通过信息、菜品、评价三栏Tab切换展示，搭配直观的评分分布柱状图，让用户快速掌握店铺真实口碑。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83000" y="5588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10000" y="5689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可视化呈现：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多维度评分数据图表化，优劣项一目了然，决策更高效。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2260600"/>
            <a:ext cx="165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 多维评价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21485" flipH="false" flipV="false">
            <a:off x="6604020" y="2914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540500" y="3175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支持五星评分、菜品图片上传与匿名评价功能，满足用户多样化表达需求，同时规范内容发布秩序。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5588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5689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三重校验逻辑：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内容合规性、图片安全性与评分有效性自动校验，保障真实。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805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334500" y="2286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842500" y="2260600"/>
            <a:ext cx="165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04 个人中心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1485" flipH="false" flipV="false">
            <a:off x="9334520" y="2914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9271000" y="3175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聚合收藏店铺、历史上传记录与个人设置，统一管理用户资产，打造个性化、便捷的专属空间。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207500" y="5588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334500" y="5689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极简授权登录：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支持微信一键授权，仅获取公开信息，兼顾安全与便捷体验。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测试结果与质量评估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5389889" flipH="false" flipV="false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05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测试用例覆盖总数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13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26</a:t>
            </a: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个核心用例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177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905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整体测试通过率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413000"/>
            <a:ext cx="222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执行通过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762000" y="3556000"/>
            <a:ext cx="2667000" cy="190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3619500" y="3556000"/>
            <a:ext cx="2286000" cy="1905000"/>
          </a:xfrm>
          <a:prstGeom prst="roundRect">
            <a:avLst>
              <a:gd name="adj" fmla="val 0"/>
            </a:avLst>
          </a:prstGeom>
          <a:solidFill>
            <a:srgbClr val="E8F5E9">
              <a:alpha val="8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810000" y="374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191000" y="37084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性能达标验证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22917" flipH="false" flipV="false">
            <a:off x="3810021" y="4248150"/>
            <a:ext cx="190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3810000" y="4445000"/>
            <a:ext cx="1968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页面加载时间实测≤2s，优于需求设定的≤3s标准，系统响应性能表现优异。</a:t>
            </a:r>
            <a:endParaRPr lang="en-US" sz="1100"/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6350000" y="1778000"/>
          <a:ext cx="5334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79500"/>
                <a:gridCol w="1079500"/>
                <a:gridCol w="2032000"/>
                <a:gridCol w="1143000"/>
              </a:tblGrid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Bug编号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问题描述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当前状态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>
                        <a:alpha val="15000"/>
                      </a:srgbClr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B001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评分模块星星图标在不同分辨率下存在垂直对齐偏差，影响视觉一致性。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已修复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B002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店铺详情卡片在小屏设备上布局溢出，底部信息显示不完整，需调整适配逻辑。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2E7D3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已修复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>
                        <a:alpha val="60000"/>
                      </a:srgbClr>
                    </a:solidFill>
                  </a:tcPr>
                </a:tc>
              </a:tr>
              <a:tr h="1143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B003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9C4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功能缺陷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9C4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跨设备收藏内容同步偶发延迟，极端网络环境下同步成功率约95%，需优化策略。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9C4">
                        <a:alpha val="7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EF6C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优化中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2E7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9C4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8" id="18"/>
          <p:cNvSpPr/>
          <p:nvPr/>
        </p:nvSpPr>
        <p:spPr>
          <a:xfrm rot="0" flipH="false" flipV="false">
            <a:off x="6350000" y="5715000"/>
            <a:ext cx="5334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816600"/>
            <a:ext cx="508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总结：核心功能测试全覆盖且100%通过，UI类Bug已全部修复，仅存一项复杂的功能同步缺陷处于优化收尾阶段，整体质量符合上线标准。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创新点与AI融合实践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56000" y="1778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2E7D32">
              <a:alpha val="10000"/>
            </a:srgbClr>
          </a:solidFill>
          <a:ln w="25400" cmpd="sng" cap="flat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810000" y="19685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4699000" y="1930400"/>
            <a:ext cx="381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核心亮点：校园专属 + AI辅助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9976884" flipH="false" flipV="false">
            <a:off x="2875908" y="3295653"/>
            <a:ext cx="326516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8" id="8"/>
          <p:cNvCxnSpPr/>
          <p:nvPr/>
        </p:nvCxnSpPr>
        <p:spPr>
          <a:xfrm rot="796372" flipH="false" flipV="false">
            <a:off x="6050932" y="3295653"/>
            <a:ext cx="326516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9" id="9"/>
          <p:cNvCxnSpPr/>
          <p:nvPr/>
        </p:nvCxnSpPr>
        <p:spPr>
          <a:xfrm rot="9029171" flipH="false" flipV="false">
            <a:off x="1732582" y="4057654"/>
            <a:ext cx="46628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10" id="10"/>
          <p:cNvCxnSpPr/>
          <p:nvPr/>
        </p:nvCxnSpPr>
        <p:spPr>
          <a:xfrm rot="5380901" flipH="false" flipV="false">
            <a:off x="4953000" y="4057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11" id="11"/>
          <p:cNvCxnSpPr/>
          <p:nvPr/>
        </p:nvCxnSpPr>
        <p:spPr>
          <a:xfrm rot="1752101" flipH="false" flipV="false">
            <a:off x="5796597" y="4057654"/>
            <a:ext cx="46628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976D2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35560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3683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技术创新：Taro跨端开发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采用Taro框架实现一套代码多端运行，兼容微信小程序、H5及App，大幅降低开发与维护成本，提升迭代效率。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858000" y="35560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3746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874000" y="3683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功能创新：智能推荐与可视化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运用随机推荐算法丰富内容展示维度，结合评分可视化图表直观呈现店铺口碑，让用户决策更高效、体验更有趣。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07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397500"/>
            <a:ext cx="457200" cy="457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5334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AI全流程深度融合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覆盖需求分析、文档生成到代码优化全环节，AI辅助提升产出质量，是项目的核心技术驱动力。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5207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53975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207000" y="5334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严格遵循国标规范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对标GB/T 8567-2006标准，产出8份完整规范文档，确保项目流程标准化、成果可复用与可追溯。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5207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191500" y="5397500"/>
            <a:ext cx="457200" cy="457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63000" y="5334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学生共建UGC生态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打造由学生主导的内容共建共享机制，现已收录50+优质校园周边店铺，构建有活力的美食分享社区。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局限性与未来展望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D32F2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95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070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当前项目存在的局限性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952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32F2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2857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后端数据对接未完成：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目前系统暂使用Mock模拟数据支撑展示，真实业务数据的持久化与接口联调尚未完全落地，数据链路存在断点。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8735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核心功能与算法待完善：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地图导航功能模块尚未实现，用户无法获取路径指引；个性化推荐逻辑仍处于基础阶段，算法模型缺乏用户行为数据的训练与优化。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90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2E7D32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2095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2070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未来功能迭代规划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046" flipH="false" flipV="false">
            <a:off x="6413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13500" y="2794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短期 (V1.1)：夯实基础架构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完成真实后端API对接，实现用户数据、业务信息的持久化存储，确保系统数据流转稳定可靠。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3683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中期 (V1.2)：拓展场景体验</a:t>
            </a:r>
            <a:r>
              <a:rPr lang="en-US" b="false" i="false" strike="noStrike" u="none" sz="12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「 Coming Soon 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集成LBS定位服务，开发地图导航功能，为用户提供精准的位置引导与场景化服务支持。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4572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长期 (V2.0)：智能升级与管理赋能</a:t>
            </a:r>
            <a:r>
              <a:rPr lang="en-US" b="false" i="false" strike="noStrike" u="none" sz="12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「 Coming Soon 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引入协同过滤推荐算法，搭建专属管理员后台，实现智能化运营。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5588000"/>
            <a:ext cx="3302000" cy="8255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79500" y="5651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2026.07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V1.1 发布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完成后端数据联调，实现基础功能闭环</a:t>
            </a:r>
          </a:p>
        </p:txBody>
      </p:sp>
      <p:cxnSp>
        <p:nvCxnSpPr>
          <p:cNvPr name="Connector 21" id="21"/>
          <p:cNvCxnSpPr/>
          <p:nvPr/>
        </p:nvCxnSpPr>
        <p:spPr>
          <a:xfrm rot="5331254" flipH="false" flipV="false">
            <a:off x="4127500" y="5962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4635500" y="5588000"/>
            <a:ext cx="3302000" cy="8255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762500" y="5651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2026.09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V1.2 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上线LBS定位，新增地图导航核心模块</a:t>
            </a:r>
          </a:p>
        </p:txBody>
      </p:sp>
      <p:cxnSp>
        <p:nvCxnSpPr>
          <p:cNvPr name="Connector 24" id="24"/>
          <p:cNvCxnSpPr/>
          <p:nvPr/>
        </p:nvCxnSpPr>
        <p:spPr>
          <a:xfrm rot="5331254" flipH="false" flipV="false">
            <a:off x="7747000" y="5962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255000" y="5588000"/>
            <a:ext cx="3111500" cy="8255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5651500"/>
            <a:ext cx="2857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2027.01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版本 V2.0 进阶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推荐算法升级，开放管理员后台系统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28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81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感谢指导教师的悉心指导   |   感谢同学们的测试支持</a:t>
            </a: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汇报结束，欢迎各位老师和同学批评指正</a:t>
            </a:r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5581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E7D32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{"Label":"1","ContentProducer":"001191110102MACQD9K64010000","ProduceID":"7655504835899919573","ReservedCode1":"","ContentPropagator":"","PropagateID":"","ReservedCode2":""}</vt:lpwstr>
  </property>
</Properties>
</file>